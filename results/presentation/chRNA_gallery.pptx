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published junctions to testable evidence</a:t>
            </a:r>
          </a:p>
          <a:p/>
          <a:p>
            <a:r>
              <a:t>SOURCE</a:t>
            </a:r>
          </a:p>
          <a:p>
            <a:r>
              <a:t>Dataset audit + classifier MODEL_CARD.md + compute pilot_summary.json</a:t>
            </a:r>
          </a:p>
          <a:p/>
          <a:p>
            <a:r>
              <a:t>METHOD</a:t>
            </a:r>
          </a:p>
          <a:p>
            <a:r>
              <a:t>Published tables define the candidate panel and reporting target; gene-disjoint models use only prespecified RNA/spatial features. GPU and language-model outputs remain separate displayed evidence.</a:t>
            </a:r>
          </a:p>
          <a:p/>
          <a:p>
            <a:r>
              <a:t>INTERPRETATION / CAVEAT</a:t>
            </a:r>
          </a:p>
          <a:p>
            <a:r>
              <a:t>Conceptual workflow; arrows describe analysis dependencies, not new experimental validation.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evaluation unit is an ordered gene pair</a:t>
            </a:r>
          </a:p>
          <a:p/>
          <a:p>
            <a:r>
              <a:t>SOURCE</a:t>
            </a:r>
          </a:p>
          <a:p>
            <a:r>
              <a:t>dataset_reconstruction/audit.md; probe_panel.tsv; model_input.tsv</a:t>
            </a:r>
          </a:p>
          <a:p/>
          <a:p>
            <a:r>
              <a:t>METHOD</a:t>
            </a:r>
          </a:p>
          <a:p>
            <a:r>
              <a:t>Sequence-backed pair identity reconciliation; collapse repeated designs to ordered pairs; conservatively exclude unresolved candidate/control identities.</a:t>
            </a:r>
          </a:p>
          <a:p/>
          <a:p>
            <a:r>
              <a:t>INTERPRETATION / CAVEAT</a:t>
            </a:r>
          </a:p>
          <a:p>
            <a:r>
              <a:t>NanoString membership is reported support. Unknown testing/QC is not a verified negative.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evidence answers different questions</a:t>
            </a:r>
          </a:p>
          <a:p/>
          <a:p>
            <a:r>
              <a:t>SOURCE</a:t>
            </a:r>
          </a:p>
          <a:p>
            <a:r>
              <a:t>Venezia et al., Nature (2026), doi:10.1038/s41586-026-10982-x; dataset_reconstruction/{junctions,probe_panel}.tsv</a:t>
            </a:r>
          </a:p>
          <a:p/>
          <a:p>
            <a:r>
              <a:t>METHOD</a:t>
            </a:r>
          </a:p>
          <a:p>
            <a:r>
              <a:t>Separate junction records, probe records, gene-pair target, and paper experiments. Unknown assay/QC and sample identifiers remain explicit.</a:t>
            </a:r>
          </a:p>
          <a:p/>
          <a:p>
            <a:r>
              <a:t>INTERPRETATION / CAVEAT</a:t>
            </a:r>
          </a:p>
          <a:p>
            <a:r>
              <a:t>Do not promote a pair-level label to isoform validation, translation, function, or authenticity.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Gsdmd → Tmem106a: RNA architecture and a predicted fold</a:t>
            </a:r>
          </a:p>
          <a:p/>
          <a:p>
            <a:r>
              <a:t>SOURCE</a:t>
            </a:r>
          </a:p>
          <a:p>
            <a:r>
              <a:t>Venezia et al., Nature (2026), doi:10.1038/s41586-026-10982-x Figs 1 / 3; candidate_examples.json; reference_orf_verification.json; structure manifest</a:t>
            </a:r>
          </a:p>
          <a:p/>
          <a:p>
            <a:r>
              <a:t>METHOD</a:t>
            </a:r>
          </a:p>
          <a:p>
            <a:r>
              <a:t>Exact probe halves map to annotated transcripts. Exon numbers are transcript-specific; a lexicographic representative is displayed among exact matches. The 118-aa sequence was independently reference-reconstructed and matches the cached Boltz2 input.</a:t>
            </a:r>
          </a:p>
          <a:p/>
          <a:p>
            <a:r>
              <a:t>INTERPRETATION / CAVEAT</a:t>
            </a:r>
          </a:p>
          <a:p>
            <a:r>
              <a:t>Symbolic exon widths. Retained RNA exons do not imply translation throughout. Boltz2 fold is predicted, not experimental.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Junction evidence and model score can disagree</a:t>
            </a:r>
          </a:p>
          <a:p/>
          <a:p>
            <a:r>
              <a:t>SOURCE</a:t>
            </a:r>
          </a:p>
          <a:p>
            <a:r>
              <a:t>candidate_examples.json; predictions.tsv; Venezia et al., Nature (2026), doi:10.1038/s41586-026-10982-x Fig. 1 / Extended Data Fig. 2</a:t>
            </a:r>
          </a:p>
          <a:p/>
          <a:p>
            <a:r>
              <a:t>METHOD</a:t>
            </a:r>
          </a:p>
          <a:p>
            <a:r>
              <a:t>Two probe-sequence-derived junction diagrams; same preserved parent order and assembly. Full-panel out-of-fold RNA scores shown; no ORF inference for these examples.</a:t>
            </a:r>
          </a:p>
          <a:p/>
          <a:p>
            <a:r>
              <a:t>INTERPRETATION / CAVEAT</a:t>
            </a:r>
          </a:p>
          <a:p>
            <a:r>
              <a:t>Representative transcripts are not uniquely validated isoforms. No protein/function claim for Psap:Lgals3.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Evaluate new parent-gene groups, not memorized genes</a:t>
            </a:r>
          </a:p>
          <a:p/>
          <a:p>
            <a:r>
              <a:t>SOURCE</a:t>
            </a:r>
          </a:p>
          <a:p>
            <a:r>
              <a:t>classifier/folds.tsv; predictions.tsv; MODEL_CARD.md</a:t>
            </a:r>
          </a:p>
          <a:p/>
          <a:p>
            <a:r>
              <a:t>METHOD</a:t>
            </a:r>
          </a:p>
          <a:p>
            <a:r>
              <a:t>Connected components group every pair sharing either parent gene. Deterministic five-fold predictions (seed 42); fold-local median imputation and scaling; fixed L2 logistic regression C=1.</a:t>
            </a:r>
          </a:p>
          <a:p/>
          <a:p>
            <a:r>
              <a:t>INTERPRETATION / CAVEAT</a:t>
            </a:r>
          </a:p>
          <a:p>
            <a:r>
              <a:t>Illustrative partition diagram; exact assignments are in folds.tsv. No validation-derived predictor inputs.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small AP increase; uncertainty includes no benefit</a:t>
            </a:r>
          </a:p>
          <a:p/>
          <a:p>
            <a:r>
              <a:t>SOURCE</a:t>
            </a:r>
          </a:p>
          <a:p>
            <a:r>
              <a:t>classifier/metrics.json → matched_hic + comparison; predictions.tsv</a:t>
            </a:r>
          </a:p>
          <a:p/>
          <a:p>
            <a:r>
              <a:t>METHOD</a:t>
            </a:r>
          </a:p>
          <a:p>
            <a:r>
              <a:t>Average precision of saved out-of-fold predictions. Difference interval from 1,000 bootstrap resamples of parent-gene components, without model refitting.</a:t>
            </a:r>
          </a:p>
          <a:p/>
          <a:p>
            <a:r>
              <a:t>INTERPRETATION / CAVEAT</a:t>
            </a:r>
          </a:p>
          <a:p>
            <a:r>
              <a:t>RNA AP 0.296 versus RNA+Hi-C AP 0.300 does not establish improvement; bootstrap interval crosses zero.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Top-ranked candidates tell a more cautious story</a:t>
            </a:r>
          </a:p>
          <a:p/>
          <a:p>
            <a:r>
              <a:t>SOURCE</a:t>
            </a:r>
          </a:p>
          <a:p>
            <a:r>
              <a:t>classifier/metrics.json → matched_hic / interchromosomal</a:t>
            </a:r>
          </a:p>
          <a:p/>
          <a:p>
            <a:r>
              <a:t>METHOD</a:t>
            </a:r>
          </a:p>
          <a:p>
            <a:r>
              <a:t>Counts of reported-supported pairs among the first 20 saved scores, with pair-ID tie-breaking. Interchromosomal comparison restricted to the same 244 observed-contact pairs.</a:t>
            </a:r>
          </a:p>
          <a:p/>
          <a:p>
            <a:r>
              <a:t>INTERPRETATION / CAVEAT</a:t>
            </a:r>
          </a:p>
          <a:p>
            <a:r>
              <a:t>Dots represent reporting labels, not verified true/false chimeras. The compared ranked lists need not contain the same pairs.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actual NVIDIA run, with no probe-panel matches</a:t>
            </a:r>
          </a:p>
          <a:p/>
          <a:p>
            <a:r>
              <a:t>SOURCE</a:t>
            </a:r>
          </a:p>
          <a:p>
            <a:r>
              <a:t>compute/pilot_summary.json; evidence.tsv; Chimeric.out.junction; independent review</a:t>
            </a:r>
          </a:p>
          <a:p/>
          <a:p>
            <a:r>
              <a:t>METHOD</a:t>
            </a:r>
          </a:p>
          <a:p>
            <a:r>
              <a:t>Parabricks 4.7.1-1; paired 151-nt reads from SRR37513722; both ordered breakpoints, strands and chromosomes matched within ±10 nt to probe-derived junctions.</a:t>
            </a:r>
          </a:p>
          <a:p/>
          <a:p>
            <a:r>
              <a:t>INTERPRETATION / CAVEAT</a:t>
            </a:r>
          </a:p>
          <a:p>
            <a:r>
              <a:t>Zero probe matches does not refute candidates. 85.49 s is alignment only; no matched CPU speedup benchmark.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 turns cached evidence into traceable explanations</a:t>
            </a:r>
          </a:p>
          <a:p/>
          <a:p>
            <a:r>
              <a:t>SOURCE</a:t>
            </a:r>
          </a:p>
          <a:p>
            <a:r>
              <a:t>demo/reports/*.json; sources/passages.json; report_review.md; scripts/demo/reports.py</a:t>
            </a:r>
          </a:p>
          <a:p/>
          <a:p>
            <a:r>
              <a:t>METHOD</a:t>
            </a:r>
          </a:p>
          <a:p>
            <a:r>
              <a:t>The Codex agent authored five reports from actual evidence rows and supplied primary-paper passages. Citation IDs, numerical claims, input snapshots and hashes were reviewed/cached.</a:t>
            </a:r>
          </a:p>
          <a:p/>
          <a:p>
            <a:r>
              <a:t>INTERPRETATION / CAVEAT</a:t>
            </a:r>
          </a:p>
          <a:p>
            <a:r>
              <a:t>No Responses API call occurred without credentials. The optional strict-schema API adapter is separate; reports are not model features or labels.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predicted chimera is not an experimental structure</a:t>
            </a:r>
          </a:p>
          <a:p/>
          <a:p>
            <a:r>
              <a:t>SOURCE</a:t>
            </a:r>
          </a:p>
          <a:p>
            <a:r>
              <a:t>structures/manifest.json; PDB 6N9N; Venezia et al., Nature (2026), doi:10.1038/s41586-026-10982-x Fig. 3a / Methods</a:t>
            </a:r>
          </a:p>
          <a:p/>
          <a:p>
            <a:r>
              <a:t>METHOD</a:t>
            </a:r>
          </a:p>
          <a:p>
            <a:r>
              <a:t>Structure assets are independently supplied with sequence identity, residue-source boundaries, source coordinates, method and confidence. The paper Fig. 3a chimera is also a prediction (AlphaFold3), not an experimental structure.</a:t>
            </a:r>
          </a:p>
          <a:p/>
          <a:p>
            <a:r>
              <a:t>INTERPRETATION / CAVEAT</a:t>
            </a:r>
          </a:p>
          <a:p>
            <a:r>
              <a:t>Gsdmd:Tmem106a model is low confidence. Experimental parent GSDMD coordinates do not validate the chimera fold.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auditable result. An independent test comes next.</a:t>
            </a:r>
          </a:p>
          <a:p/>
          <a:p>
            <a:r>
              <a:t>SOURCE</a:t>
            </a:r>
          </a:p>
          <a:p>
            <a:r>
              <a:t>All reviewed artifacts; dataset audit; MODEL_CARD.md; compute + demo status records</a:t>
            </a:r>
          </a:p>
          <a:p/>
          <a:p>
            <a:r>
              <a:t>METHOD</a:t>
            </a:r>
          </a:p>
          <a:p>
            <a:r>
              <a:t>Summarize the actual retrospective result, independent GPU pilot, cited-report workflow, and remaining experimental needs; no newly discovered chimeras are claimed.</a:t>
            </a:r>
          </a:p>
          <a:p/>
          <a:p>
            <a:r>
              <a:t>INTERPRETATION / CAVEAT</a:t>
            </a:r>
          </a:p>
          <a:p>
            <a:r>
              <a:t>Probe-panel selection, unknown QC, coarse Hi-C context, small labels and model uncertainty limit generalization.</a:t>
            </a:r>
          </a:p>
          <a:p/>
          <a:p>
            <a:r>
              <a:t>Generated from the reviewed repository artifacts, not invented measurements. Exact sources and checksums are in gallery/figure_manifest.json.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From published junctions to testable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A reproducible workflow for mouse macrophage chimeric RNA candidates.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Dataset audit + classifier MODEL_CARD.md + compute pilot_summary.json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Conceptual workflow; arrows describe analysis dependencies, not new experimental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88336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871216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62656"/>
            <a:ext cx="45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11296"/>
            <a:ext cx="2048256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RECONSTRUCT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68496"/>
            <a:ext cx="2039112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Tables 3 / 4 / 7 / 8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GENCODE M28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63240" y="3785615"/>
            <a:ext cx="210312" cy="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176223" y="3785615"/>
            <a:ext cx="97329" cy="50671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176223" y="3734945"/>
            <a:ext cx="97329" cy="5067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83280" y="2688336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66160" y="2871216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2962656"/>
            <a:ext cx="45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511296"/>
            <a:ext cx="2048256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PRESERVE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968496"/>
            <a:ext cx="2039112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Ordered parents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Exact junctions +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reads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52160" y="3785615"/>
            <a:ext cx="210312" cy="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965143" y="3785615"/>
            <a:ext cx="97329" cy="50671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965143" y="3734945"/>
            <a:ext cx="97329" cy="5067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72200" y="2688336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2871216"/>
            <a:ext cx="457200" cy="457200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962656"/>
            <a:ext cx="45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11296"/>
            <a:ext cx="2048256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D22D27"/>
                </a:solidFill>
                <a:latin typeface="DejaVu Sans"/>
              </a:defRPr>
            </a:pPr>
            <a: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68496"/>
            <a:ext cx="2039112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RNA features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500-kb Hi-C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context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41080" y="3785615"/>
            <a:ext cx="210312" cy="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754063" y="3785615"/>
            <a:ext cx="97329" cy="50671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754063" y="3734945"/>
            <a:ext cx="97329" cy="5067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961120" y="2688336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4000" y="2871216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2962656"/>
            <a:ext cx="45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511296"/>
            <a:ext cx="2048256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EVALUATE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968496"/>
            <a:ext cx="2039112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5 grouped folds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Matched cohorts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430000" y="3785615"/>
            <a:ext cx="210312" cy="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1542983" y="3785615"/>
            <a:ext cx="97329" cy="50671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1542983" y="3734945"/>
            <a:ext cx="97329" cy="5067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1750040" y="2688336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932920" y="2871216"/>
            <a:ext cx="457200" cy="457200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32920" y="2962656"/>
            <a:ext cx="45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FFFFFF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932920" y="3511296"/>
            <a:ext cx="2048256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D22D27"/>
                </a:solidFill>
                <a:latin typeface="DejaVu Sans"/>
              </a:defRPr>
            </a:pPr>
            <a:r>
              <a:t>EXPLORE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32920" y="3968496"/>
            <a:ext cx="2039112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Rank + inspect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172431"/>
                </a:solidFill>
                <a:latin typeface="DejaVu Sans"/>
              </a:defRPr>
            </a:pPr>
            <a:r>
              <a:t>Trace every claim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5513832"/>
            <a:ext cx="6583680" cy="1216152"/>
          </a:xfrm>
          <a:prstGeom prst="rect">
            <a:avLst/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5696712"/>
            <a:ext cx="6217920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93"/>
              </a:lnSpc>
              <a:spcBef>
                <a:spcPts val="0"/>
              </a:spcBef>
              <a:spcAft>
                <a:spcPts val="0"/>
              </a:spcAft>
              <a:defRPr sz="1943" b="1" i="0">
                <a:solidFill>
                  <a:srgbClr val="0000FF"/>
                </a:solidFill>
                <a:latin typeface="DejaVu Sans"/>
              </a:defRPr>
            </a:pPr>
            <a:r>
              <a:t>NVIDIA · independent 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" y="6117336"/>
            <a:ext cx="6217920" cy="4754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172431"/>
                </a:solidFill>
                <a:latin typeface="DejaVu Sans"/>
              </a:defRPr>
            </a:pPr>
            <a:r>
              <a:t>Bounded Parabricks pilot → exact junction matching →</a:t>
            </a:r>
          </a:p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172431"/>
                </a:solidFill>
                <a:latin typeface="DejaVu Sans"/>
              </a:defRPr>
            </a:pPr>
            <a:r>
              <a:t>display only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43216" y="5513832"/>
            <a:ext cx="6583680" cy="1216152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53527" y="5696712"/>
            <a:ext cx="6217920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93"/>
              </a:lnSpc>
              <a:spcBef>
                <a:spcPts val="0"/>
              </a:spcBef>
              <a:spcAft>
                <a:spcPts val="0"/>
              </a:spcAft>
              <a:defRPr sz="1943" b="1" i="0">
                <a:solidFill>
                  <a:srgbClr val="D22D27"/>
                </a:solidFill>
                <a:latin typeface="DejaVu Sans"/>
              </a:defRPr>
            </a:pPr>
            <a:r>
              <a:t>OpenAI · source-grounded explanation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53527" y="6117336"/>
            <a:ext cx="6217920" cy="4754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172431"/>
                </a:solidFill>
                <a:latin typeface="DejaVu Sans"/>
              </a:defRPr>
            </a:pPr>
            <a:r>
              <a:t>Evidence rows + paper passages → reviewed cached</a:t>
            </a:r>
          </a:p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172431"/>
                </a:solidFill>
                <a:latin typeface="DejaVu Sans"/>
              </a:defRPr>
            </a:pPr>
            <a:r>
              <a:t>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The evaluation unit is an ordered gene 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529 probe designs do not mean 529 independently validated chimeras.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dataset_reconstruction/audit.md; probe_panel.tsv; model_input.tsv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NanoString membership is reported support. Unknown testing/QC is not a verified negative.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32304"/>
            <a:ext cx="41605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432304"/>
            <a:ext cx="45720" cy="214884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15184"/>
            <a:ext cx="3776472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6B747E"/>
                </a:solidFill>
                <a:latin typeface="DejaVu Sans"/>
              </a:defRPr>
            </a:pPr>
            <a:r>
              <a:t>probe designs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026664"/>
            <a:ext cx="3776472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  <a:defRPr sz="3744" b="1" i="0">
                <a:solidFill>
                  <a:srgbClr val="0000FF"/>
                </a:solidFill>
                <a:latin typeface="DejaVu Sans"/>
              </a:defRPr>
            </a:pPr>
            <a:r>
              <a:t>529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813048"/>
            <a:ext cx="3776472" cy="6858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Published design panel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37176" y="3447288"/>
            <a:ext cx="228600" cy="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968447" y="3447288"/>
            <a:ext cx="97329" cy="5067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968447" y="3396617"/>
            <a:ext cx="97329" cy="50671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12080" y="2432304"/>
            <a:ext cx="41605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2432304"/>
            <a:ext cx="45720" cy="2148840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8" y="2615184"/>
            <a:ext cx="3776472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6B747E"/>
                </a:solidFill>
                <a:latin typeface="DejaVu Sans"/>
              </a:defRPr>
            </a:pPr>
            <a:r>
              <a:t>ordered pairs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3026664"/>
            <a:ext cx="3776472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  <a:defRPr sz="3744" b="1" i="0">
                <a:solidFill>
                  <a:srgbClr val="D22D27"/>
                </a:solidFill>
                <a:latin typeface="DejaVu Sans"/>
              </a:defRPr>
            </a:pPr>
            <a:r>
              <a:t>527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3813048"/>
            <a:ext cx="3776472" cy="6858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Two repeated-design collapses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54896" y="3447288"/>
            <a:ext cx="228600" cy="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586167" y="3447288"/>
            <a:ext cx="97329" cy="5067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9586167" y="3396617"/>
            <a:ext cx="97329" cy="50671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29800" y="2432304"/>
            <a:ext cx="41605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9800" y="2432304"/>
            <a:ext cx="45720" cy="214884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30968" y="2615184"/>
            <a:ext cx="3776472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6B747E"/>
                </a:solidFill>
                <a:latin typeface="DejaVu Sans"/>
              </a:defRPr>
            </a:pPr>
            <a:r>
              <a:t>eligible pairs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8" y="3026664"/>
            <a:ext cx="3776472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  <a:defRPr sz="3744" b="1" i="0">
                <a:solidFill>
                  <a:srgbClr val="0000FF"/>
                </a:solidFill>
                <a:latin typeface="DejaVu Sans"/>
              </a:defRPr>
            </a:pPr>
            <a:r>
              <a:t>479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3813048"/>
            <a:ext cx="3776472" cy="6858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48 unresolved pairs excluded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5074920"/>
            <a:ext cx="10972800" cy="4114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463"/>
              </a:lnSpc>
              <a:spcBef>
                <a:spcPts val="0"/>
              </a:spcBef>
              <a:spcAft>
                <a:spcPts val="0"/>
              </a:spcAft>
              <a:defRPr sz="2088" b="1" i="0">
                <a:solidFill>
                  <a:srgbClr val="172431"/>
                </a:solidFill>
                <a:latin typeface="DejaVu Sans"/>
              </a:defRPr>
            </a:pPr>
            <a:r>
              <a:t>479 eligible pairs: one label per ordered pair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" y="5742432"/>
            <a:ext cx="3056673" cy="62179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60177" y="5742432"/>
            <a:ext cx="10375862" cy="621792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473952"/>
            <a:ext cx="5486400" cy="5029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2160" b="1" i="0">
                <a:solidFill>
                  <a:srgbClr val="0000FF"/>
                </a:solidFill>
                <a:latin typeface="DejaVu Sans"/>
              </a:defRPr>
            </a:pPr>
            <a:r>
              <a:t>109 reported supported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6473952"/>
            <a:ext cx="7315200" cy="5029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2160" b="1" i="0">
                <a:solidFill>
                  <a:srgbClr val="D22D27"/>
                </a:solidFill>
                <a:latin typeface="DejaVu Sans"/>
              </a:defRPr>
            </a:pPr>
            <a:r>
              <a:t>370 not reported supported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Different evidence answers different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Keep read identity, junction identity, pair-level reporting, and protein function separate.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Venezia et al., Nature (2026), doi:10.1038/s41586-026-10982-x; dataset_reconstruction/{junctions,probe_panel}.tsv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Do not promote a pair-level label to isoform validation, translation, function, or authenticity.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96312"/>
            <a:ext cx="4261104" cy="37124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743200"/>
            <a:ext cx="3822191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2160" b="1" i="0">
                <a:solidFill>
                  <a:srgbClr val="0000FF"/>
                </a:solidFill>
                <a:latin typeface="DejaVu Sans"/>
              </a:defRPr>
            </a:pPr>
            <a:r>
              <a:t>READ / JUNCTION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5404104"/>
            <a:ext cx="3822191" cy="6400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431"/>
                </a:solidFill>
                <a:latin typeface="DejaVu Sans"/>
              </a:defRPr>
            </a:pPr>
            <a:r>
              <a:t>What molecule or breakpoint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431"/>
                </a:solidFill>
                <a:latin typeface="DejaVu Sans"/>
              </a:defRPr>
            </a:pPr>
            <a:r>
              <a:t>was observed?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4648" y="2496312"/>
            <a:ext cx="4261104" cy="37124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4104" y="2743200"/>
            <a:ext cx="3822191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2160" b="1" i="0">
                <a:solidFill>
                  <a:srgbClr val="D22D27"/>
                </a:solidFill>
                <a:latin typeface="DejaVu Sans"/>
              </a:defRPr>
            </a:pPr>
            <a:r>
              <a:t>ORDERED 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5404104"/>
            <a:ext cx="3822191" cy="6400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431"/>
                </a:solidFill>
                <a:latin typeface="DejaVu Sans"/>
              </a:defRPr>
            </a:pPr>
            <a:r>
              <a:t>Was the pair reported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431"/>
                </a:solidFill>
                <a:latin typeface="DejaVu Sans"/>
              </a:defRPr>
            </a:pPr>
            <a:r>
              <a:t>NanoString-supported?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74936" y="2496312"/>
            <a:ext cx="4261104" cy="37124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4392" y="2743200"/>
            <a:ext cx="3822191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2160" b="1" i="0">
                <a:solidFill>
                  <a:srgbClr val="6B747E"/>
                </a:solidFill>
                <a:latin typeface="DejaVu Sans"/>
              </a:defRPr>
            </a:pPr>
            <a:r>
              <a:t>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5404104"/>
            <a:ext cx="3822191" cy="6400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431"/>
                </a:solidFill>
                <a:latin typeface="DejaVu Sans"/>
              </a:defRPr>
            </a:pPr>
            <a:r>
              <a:t>Was a specific biological effect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431"/>
                </a:solidFill>
                <a:latin typeface="DejaVu Sans"/>
              </a:defRPr>
            </a:pPr>
            <a:r>
              <a:t>demonstrated?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639312"/>
            <a:ext cx="1453896" cy="0"/>
          </a:xfrm>
          <a:prstGeom prst="line">
            <a:avLst/>
          </a:prstGeom>
          <a:ln w="73152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95728" y="3639312"/>
            <a:ext cx="1865376" cy="0"/>
          </a:xfrm>
          <a:prstGeom prst="line">
            <a:avLst/>
          </a:prstGeom>
          <a:ln w="73152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" y="3904487"/>
            <a:ext cx="1536192" cy="0"/>
          </a:xfrm>
          <a:prstGeom prst="line">
            <a:avLst/>
          </a:prstGeom>
          <a:ln w="73152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3904487"/>
            <a:ext cx="1783080" cy="0"/>
          </a:xfrm>
          <a:prstGeom prst="line">
            <a:avLst/>
          </a:prstGeom>
          <a:ln w="73152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4169663"/>
            <a:ext cx="1618488" cy="0"/>
          </a:xfrm>
          <a:prstGeom prst="line">
            <a:avLst/>
          </a:prstGeom>
          <a:ln w="73152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60320" y="4169663"/>
            <a:ext cx="1700784" cy="0"/>
          </a:xfrm>
          <a:prstGeom prst="line">
            <a:avLst/>
          </a:prstGeom>
          <a:ln w="73152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" y="4434840"/>
            <a:ext cx="1700784" cy="0"/>
          </a:xfrm>
          <a:prstGeom prst="line">
            <a:avLst/>
          </a:prstGeom>
          <a:ln w="73152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42616" y="4434840"/>
            <a:ext cx="1618488" cy="0"/>
          </a:xfrm>
          <a:prstGeom prst="line">
            <a:avLst/>
          </a:prstGeom>
          <a:ln w="73152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68880" y="3355848"/>
            <a:ext cx="0" cy="1591056"/>
          </a:xfrm>
          <a:prstGeom prst="line">
            <a:avLst/>
          </a:prstGeom>
          <a:ln w="18288">
            <a:solidFill>
              <a:srgbClr val="6B74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41832" y="4928616"/>
            <a:ext cx="3337560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Exact coordinates + read IDs</a:t>
            </a:r>
          </a:p>
        </p:txBody>
      </p:sp>
      <p:sp>
        <p:nvSpPr>
          <p:cNvPr id="31" name="Oval 30"/>
          <p:cNvSpPr/>
          <p:nvPr/>
        </p:nvSpPr>
        <p:spPr>
          <a:xfrm>
            <a:off x="5788152" y="3703320"/>
            <a:ext cx="877824" cy="877824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35824" y="3703320"/>
            <a:ext cx="877824" cy="877824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152" y="3913632"/>
            <a:ext cx="877824" cy="4572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3568"/>
              </a:lnSpc>
              <a:spcBef>
                <a:spcPts val="0"/>
              </a:spcBef>
              <a:spcAft>
                <a:spcPts val="0"/>
              </a:spcAft>
              <a:defRPr sz="3024" b="1" i="0">
                <a:solidFill>
                  <a:srgbClr val="FFFFFF"/>
                </a:solidFill>
                <a:latin typeface="DejaVu Sans"/>
              </a:defRPr>
            </a:pPr>
            <a: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3913632"/>
            <a:ext cx="877824" cy="4572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3568"/>
              </a:lnSpc>
              <a:spcBef>
                <a:spcPts val="0"/>
              </a:spcBef>
              <a:spcAft>
                <a:spcPts val="0"/>
              </a:spcAft>
              <a:defRPr sz="3024" b="1" i="0">
                <a:solidFill>
                  <a:srgbClr val="FFFFFF"/>
                </a:solidFill>
                <a:latin typeface="DejaVu Sans"/>
              </a:defRPr>
            </a:pPr>
            <a:r>
              <a:t>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93992" y="4133087"/>
            <a:ext cx="813816" cy="0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10479" y="4133087"/>
            <a:ext cx="97329" cy="50671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7510479" y="4082417"/>
            <a:ext cx="97329" cy="50670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68696" y="4855464"/>
            <a:ext cx="3566160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Reported ≠ every isoform validated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7272" y="3666744"/>
            <a:ext cx="3383280" cy="99669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7136"/>
              </a:lnSpc>
              <a:spcBef>
                <a:spcPts val="0"/>
              </a:spcBef>
              <a:spcAft>
                <a:spcPts val="0"/>
              </a:spcAft>
              <a:defRPr sz="6048" b="1" i="0">
                <a:solidFill>
                  <a:srgbClr val="6B747E"/>
                </a:solidFill>
                <a:latin typeface="DejaVu Sans"/>
              </a:defRPr>
            </a:pPr>
            <a:r>
              <a:t>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6688" y="4855464"/>
            <a:ext cx="361188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Requires separate experiments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65392"/>
            <a:ext cx="13441680" cy="347472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6629400"/>
            <a:ext cx="13222224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D22D27"/>
                </a:solidFill>
                <a:latin typeface="DejaVu Sans"/>
              </a:defRPr>
            </a:pPr>
            <a:r>
              <a:t>Testing/QC unknown • Biological sample count unavailable • Missing contact ≠ zero contact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653"/>
              </a:lnSpc>
              <a:spcBef>
                <a:spcPts val="0"/>
              </a:spcBef>
              <a:spcAft>
                <a:spcPts val="0"/>
              </a:spcAft>
              <a:defRPr sz="3095" b="1" i="0">
                <a:solidFill>
                  <a:srgbClr val="172431"/>
                </a:solidFill>
                <a:latin typeface="DejaVu Sans"/>
              </a:defRPr>
            </a:pPr>
            <a:r>
              <a:t>Gsdmd → Tmem106a: RNA architecture and a predicted 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Reference-reconstructed RNA and protein sequence; the candidate fold remains low confidence.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Venezia et al., Nature (2026), doi:10.1038/s41586-026-10982-x Figs 1 / 3; candidate_examples.json; reference_orf_verification.json; structure manifest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Symbolic exon widths. Retained RNA exons do not imply translation throughout. Boltz2 fold is predicted, not experimental.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32888"/>
            <a:ext cx="333756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1" i="1">
                <a:solidFill>
                  <a:srgbClr val="0000FF"/>
                </a:solidFill>
                <a:latin typeface="DejaVu Sans"/>
              </a:defRPr>
            </a:pPr>
            <a:r>
              <a:t>Gsdmd · exons 1–2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172968"/>
            <a:ext cx="3337560" cy="0"/>
          </a:xfrm>
          <a:prstGeom prst="line">
            <a:avLst/>
          </a:prstGeom>
          <a:ln w="27432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85800" y="2935224"/>
            <a:ext cx="960120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44952"/>
            <a:ext cx="96012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5648" y="2935224"/>
            <a:ext cx="960120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55648" y="3044952"/>
            <a:ext cx="96012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50208" y="3172968"/>
            <a:ext cx="256032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108911" y="3172968"/>
            <a:ext cx="97329" cy="5067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4108911" y="3122297"/>
            <a:ext cx="97329" cy="50671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92040" y="2532888"/>
            <a:ext cx="379476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1" i="1">
                <a:solidFill>
                  <a:srgbClr val="D22D27"/>
                </a:solidFill>
                <a:latin typeface="DejaVu Sans"/>
              </a:defRPr>
            </a:pPr>
            <a:r>
              <a:t>Tmem106a · exons 6–9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92040" y="3172968"/>
            <a:ext cx="3794760" cy="0"/>
          </a:xfrm>
          <a:prstGeom prst="line">
            <a:avLst/>
          </a:prstGeom>
          <a:ln w="27432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892040" y="2935224"/>
            <a:ext cx="866394" cy="493776"/>
          </a:xfrm>
          <a:prstGeom prst="rect">
            <a:avLst/>
          </a:prstGeom>
          <a:solidFill>
            <a:srgbClr val="D22D27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044952"/>
            <a:ext cx="866394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8162" y="2935224"/>
            <a:ext cx="866394" cy="493776"/>
          </a:xfrm>
          <a:prstGeom prst="rect">
            <a:avLst/>
          </a:prstGeom>
          <a:solidFill>
            <a:srgbClr val="D22D27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8162" y="3044952"/>
            <a:ext cx="866394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4284" y="2935224"/>
            <a:ext cx="866394" cy="493776"/>
          </a:xfrm>
          <a:prstGeom prst="rect">
            <a:avLst/>
          </a:prstGeom>
          <a:solidFill>
            <a:srgbClr val="D22D27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4284" y="3044952"/>
            <a:ext cx="866394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0406" y="2935224"/>
            <a:ext cx="866394" cy="493776"/>
          </a:xfrm>
          <a:prstGeom prst="rect">
            <a:avLst/>
          </a:prstGeom>
          <a:solidFill>
            <a:srgbClr val="D22D27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0406" y="3044952"/>
            <a:ext cx="866394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9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13648" y="3172968"/>
            <a:ext cx="256032" cy="0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772351" y="3172968"/>
            <a:ext cx="97329" cy="50670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8772351" y="3122297"/>
            <a:ext cx="97329" cy="50671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24528" y="3182112"/>
            <a:ext cx="475488" cy="0"/>
          </a:xfrm>
          <a:prstGeom prst="line">
            <a:avLst/>
          </a:prstGeom>
          <a:ln w="36576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602687" y="3182112"/>
            <a:ext cx="97329" cy="50670"/>
          </a:xfrm>
          <a:prstGeom prst="line">
            <a:avLst/>
          </a:prstGeom>
          <a:ln w="36576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4602687" y="3131441"/>
            <a:ext cx="97329" cy="50671"/>
          </a:xfrm>
          <a:prstGeom prst="line">
            <a:avLst/>
          </a:prstGeom>
          <a:ln w="36576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160520" y="2660904"/>
            <a:ext cx="64008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72431"/>
                </a:solidFill>
                <a:latin typeface="DejaVu Sans"/>
              </a:defRPr>
            </a:pPr>
            <a:r>
              <a:t>2 →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3849624"/>
            <a:ext cx="8001000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6B747E"/>
                </a:solidFill>
                <a:latin typeface="DejaVu Sans"/>
              </a:defRPr>
            </a:pPr>
            <a:r>
              <a:t>chr15:75,735,477 (+) → chr11:101,479,679 (+)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334256"/>
            <a:ext cx="8001000" cy="5943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24" b="0" i="0">
                <a:solidFill>
                  <a:srgbClr val="6B747E"/>
                </a:solidFill>
                <a:latin typeface="DejaVu Sans"/>
              </a:defRPr>
            </a:pPr>
            <a:r>
              <a:t>ENSMUST00000023238.6 / ENSMUST00000039581.14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5138928"/>
            <a:ext cx="8001000" cy="39319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463"/>
              </a:lnSpc>
              <a:spcBef>
                <a:spcPts val="0"/>
              </a:spcBef>
              <a:spcAft>
                <a:spcPts val="0"/>
              </a:spcAft>
              <a:defRPr sz="2088" b="1" i="0">
                <a:solidFill>
                  <a:srgbClr val="172431"/>
                </a:solidFill>
                <a:latin typeface="DejaVu Sans"/>
              </a:defRPr>
            </a:pPr>
            <a:r>
              <a:t>118-aa reconstructed protein architecture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" y="5779008"/>
            <a:ext cx="4932800" cy="603504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27744" y="5779008"/>
            <a:ext cx="3040767" cy="603504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925312"/>
            <a:ext cx="4640192" cy="3383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DejaVu Sans"/>
              </a:defRPr>
            </a:pPr>
            <a:r>
              <a:t>1–73 · Gsdmd-derived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7472" y="5925312"/>
            <a:ext cx="2821311" cy="3383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defRPr sz="1512" b="1" i="0">
                <a:solidFill>
                  <a:srgbClr val="FFFFFF"/>
                </a:solidFill>
                <a:latin typeface="DejaVu Sans"/>
              </a:defRPr>
            </a:pPr>
            <a:r>
              <a:t>74–118 · novel C terminus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" y="6574536"/>
            <a:ext cx="8001000" cy="60350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6B747E"/>
                </a:solidFill>
                <a:latin typeface="DejaVu Sans"/>
              </a:defRPr>
            </a:pPr>
            <a:r>
              <a:t>Blue: in-frame Gsdmd sequence. Red: novel out-of-frame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6B747E"/>
                </a:solidFill>
                <a:latin typeface="DejaVu Sans"/>
              </a:defRPr>
            </a:pPr>
            <a:r>
              <a:t>Tmem106a-derived C terminus.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487168"/>
            <a:ext cx="0" cy="4581144"/>
          </a:xfrm>
          <a:prstGeom prst="line">
            <a:avLst/>
          </a:prstGeom>
          <a:ln w="18288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509760" y="2478024"/>
            <a:ext cx="4370832" cy="4023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463"/>
              </a:lnSpc>
              <a:spcBef>
                <a:spcPts val="0"/>
              </a:spcBef>
              <a:spcAft>
                <a:spcPts val="0"/>
              </a:spcAft>
              <a:defRPr sz="2088" b="1" i="0">
                <a:solidFill>
                  <a:srgbClr val="D22D27"/>
                </a:solidFill>
                <a:latin typeface="DejaVu Sans"/>
              </a:defRPr>
            </a:pPr>
            <a:r>
              <a:t>Candidate fold · predicted</a:t>
            </a:r>
          </a:p>
        </p:txBody>
      </p:sp>
      <p:pic>
        <p:nvPicPr>
          <p:cNvPr id="48" name="Picture 47" descr="cart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208" y="3008376"/>
            <a:ext cx="3986784" cy="299008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326880" y="6318504"/>
            <a:ext cx="4663440" cy="4023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D22D27"/>
                </a:solidFill>
                <a:latin typeface="DejaVu Sans"/>
              </a:defRPr>
            </a:pPr>
            <a:r>
              <a:t>Low confidence · mean pLDDT 48.70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6775704"/>
            <a:ext cx="4663440" cy="35661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Boltz2 · pTM 0.336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Junction evidence and model score can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Exact exon choices are transcript-specific; a high score does not create biological support.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candidate_examples.json; predictions.tsv; Venezia et al., Nature (2026), doi:10.1038/s41586-026-10982-x Fig. 1 / Extended Data Fig.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Representative transcripts are not uniquely validated isoforms. No protein/function claim for Psap:Lgals3.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304288"/>
            <a:ext cx="5943600" cy="39319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633"/>
              </a:lnSpc>
              <a:spcBef>
                <a:spcPts val="0"/>
              </a:spcBef>
              <a:spcAft>
                <a:spcPts val="0"/>
              </a:spcAft>
              <a:defRPr sz="2232" b="1" i="0">
                <a:solidFill>
                  <a:srgbClr val="172431"/>
                </a:solidFill>
                <a:latin typeface="DejaVu Sans"/>
              </a:defRPr>
            </a:pPr>
            <a:r>
              <a:t>Cd274 → Lacc1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843784"/>
            <a:ext cx="466344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1" i="1">
                <a:solidFill>
                  <a:srgbClr val="0000FF"/>
                </a:solidFill>
                <a:latin typeface="DejaVu Sans"/>
              </a:defRPr>
            </a:pPr>
            <a:r>
              <a:t>Cd274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" y="3483864"/>
            <a:ext cx="4663440" cy="0"/>
          </a:xfrm>
          <a:prstGeom prst="line">
            <a:avLst/>
          </a:prstGeom>
          <a:ln w="27432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03504" y="3246120"/>
            <a:ext cx="960120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355848"/>
            <a:ext cx="96012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73352" y="3246120"/>
            <a:ext cx="960120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3352" y="3355848"/>
            <a:ext cx="96012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246120"/>
            <a:ext cx="960120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3355848"/>
            <a:ext cx="96012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93792" y="3483864"/>
            <a:ext cx="256032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352495" y="3483864"/>
            <a:ext cx="97329" cy="5067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352495" y="3433193"/>
            <a:ext cx="97329" cy="50671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03720" y="2843784"/>
            <a:ext cx="429768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1" i="1">
                <a:solidFill>
                  <a:srgbClr val="D22D27"/>
                </a:solidFill>
                <a:latin typeface="DejaVu Sans"/>
              </a:defRPr>
            </a:pPr>
            <a:r>
              <a:t>Lacc1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03720" y="3483864"/>
            <a:ext cx="4297680" cy="0"/>
          </a:xfrm>
          <a:prstGeom prst="line">
            <a:avLst/>
          </a:prstGeom>
          <a:ln w="27432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903720" y="3246120"/>
            <a:ext cx="960120" cy="493776"/>
          </a:xfrm>
          <a:prstGeom prst="rect">
            <a:avLst/>
          </a:prstGeom>
          <a:solidFill>
            <a:srgbClr val="D22D27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355848"/>
            <a:ext cx="96012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3568" y="3246120"/>
            <a:ext cx="960120" cy="493776"/>
          </a:xfrm>
          <a:prstGeom prst="rect">
            <a:avLst/>
          </a:prstGeom>
          <a:solidFill>
            <a:srgbClr val="D22D27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3355848"/>
            <a:ext cx="96012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43416" y="3246120"/>
            <a:ext cx="960120" cy="493776"/>
          </a:xfrm>
          <a:prstGeom prst="rect">
            <a:avLst/>
          </a:prstGeom>
          <a:solidFill>
            <a:srgbClr val="D22D27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3416" y="3355848"/>
            <a:ext cx="96012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128248" y="3483864"/>
            <a:ext cx="256032" cy="0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1286951" y="3483864"/>
            <a:ext cx="97329" cy="50670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1286951" y="3433193"/>
            <a:ext cx="97329" cy="50671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94960" y="3483864"/>
            <a:ext cx="1124712" cy="0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422343" y="3483864"/>
            <a:ext cx="97329" cy="50670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6422343" y="3433193"/>
            <a:ext cx="97329" cy="50671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04688" y="3017520"/>
            <a:ext cx="1143000" cy="31089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172431"/>
                </a:solidFill>
                <a:latin typeface="DejaVu Sans"/>
              </a:defRPr>
            </a:pPr>
            <a:r>
              <a:t>3 →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2788920"/>
            <a:ext cx="2468880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653"/>
              </a:lnSpc>
              <a:spcBef>
                <a:spcPts val="0"/>
              </a:spcBef>
              <a:spcAft>
                <a:spcPts val="0"/>
              </a:spcAft>
              <a:defRPr sz="3095" b="1" i="0">
                <a:solidFill>
                  <a:srgbClr val="0000FF"/>
                </a:solidFill>
                <a:latin typeface="DejaVu Sans"/>
              </a:defRPr>
            </a:pPr>
            <a:r>
              <a:t>0.227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3282696"/>
            <a:ext cx="2468880" cy="32918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RNA OOF 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4014215"/>
            <a:ext cx="10424160" cy="4114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chr19:29,351,299 (+) → chr14:77,268,402 (-)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3730752"/>
            <a:ext cx="2468880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defRPr sz="1512" b="1" i="0">
                <a:solidFill>
                  <a:srgbClr val="0000FF"/>
                </a:solidFill>
                <a:latin typeface="DejaVu Sans"/>
              </a:defRPr>
            </a:pPr>
            <a:r>
              <a:t>Reported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4663440"/>
            <a:ext cx="5943600" cy="39319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633"/>
              </a:lnSpc>
              <a:spcBef>
                <a:spcPts val="0"/>
              </a:spcBef>
              <a:spcAft>
                <a:spcPts val="0"/>
              </a:spcAft>
              <a:defRPr sz="2232" b="1" i="0">
                <a:solidFill>
                  <a:srgbClr val="172431"/>
                </a:solidFill>
                <a:latin typeface="DejaVu Sans"/>
              </a:defRPr>
            </a:pPr>
            <a:r>
              <a:t>Psap → Lgals3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" y="5202936"/>
            <a:ext cx="466344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1" i="1">
                <a:solidFill>
                  <a:srgbClr val="0000FF"/>
                </a:solidFill>
                <a:latin typeface="DejaVu Sans"/>
              </a:defRPr>
            </a:pPr>
            <a:r>
              <a:t>Psap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3504" y="5843016"/>
            <a:ext cx="4663440" cy="0"/>
          </a:xfrm>
          <a:prstGeom prst="line">
            <a:avLst/>
          </a:prstGeom>
          <a:ln w="27432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03504" y="5605272"/>
            <a:ext cx="844905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" y="5715000"/>
            <a:ext cx="844905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58137" y="5605272"/>
            <a:ext cx="844905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8137" y="5715000"/>
            <a:ext cx="844905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2771" y="5605272"/>
            <a:ext cx="844905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2771" y="5715000"/>
            <a:ext cx="844905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67404" y="5605272"/>
            <a:ext cx="844905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67404" y="5715000"/>
            <a:ext cx="844905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22038" y="5605272"/>
            <a:ext cx="844905" cy="493776"/>
          </a:xfrm>
          <a:prstGeom prst="rect">
            <a:avLst/>
          </a:prstGeom>
          <a:solidFill>
            <a:srgbClr val="0000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22038" y="5715000"/>
            <a:ext cx="844905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14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193792" y="5843016"/>
            <a:ext cx="256032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5352495" y="5843016"/>
            <a:ext cx="97329" cy="5067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5352495" y="5792345"/>
            <a:ext cx="97329" cy="50671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903720" y="5202936"/>
            <a:ext cx="429768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1" i="1">
                <a:solidFill>
                  <a:srgbClr val="D22D27"/>
                </a:solidFill>
                <a:latin typeface="DejaVu Sans"/>
              </a:defRPr>
            </a:pPr>
            <a:r>
              <a:t>Lgals3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903720" y="5843016"/>
            <a:ext cx="4297680" cy="0"/>
          </a:xfrm>
          <a:prstGeom prst="line">
            <a:avLst/>
          </a:prstGeom>
          <a:ln w="27432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6903720" y="5605272"/>
            <a:ext cx="960120" cy="493776"/>
          </a:xfrm>
          <a:prstGeom prst="rect">
            <a:avLst/>
          </a:prstGeom>
          <a:solidFill>
            <a:srgbClr val="D22D27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03720" y="5715000"/>
            <a:ext cx="960120" cy="29260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FFFFFF"/>
                </a:solidFill>
                <a:latin typeface="DejaVu Sans"/>
              </a:defRPr>
            </a:pPr>
            <a:r>
              <a:t>6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128248" y="5843016"/>
            <a:ext cx="256032" cy="0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1286951" y="5843016"/>
            <a:ext cx="97329" cy="50670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286951" y="5792345"/>
            <a:ext cx="97329" cy="50671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394960" y="5843016"/>
            <a:ext cx="1124712" cy="0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6422343" y="5843016"/>
            <a:ext cx="97329" cy="50670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6422343" y="5792345"/>
            <a:ext cx="97329" cy="50671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504688" y="5376672"/>
            <a:ext cx="1143000" cy="31089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172431"/>
                </a:solidFill>
                <a:latin typeface="DejaVu Sans"/>
              </a:defRPr>
            </a:pPr>
            <a:r>
              <a:t>14 → 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0" y="5148072"/>
            <a:ext cx="2468880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653"/>
              </a:lnSpc>
              <a:spcBef>
                <a:spcPts val="0"/>
              </a:spcBef>
              <a:spcAft>
                <a:spcPts val="0"/>
              </a:spcAft>
              <a:defRPr sz="3095" b="1" i="0">
                <a:solidFill>
                  <a:srgbClr val="0000FF"/>
                </a:solidFill>
                <a:latin typeface="DejaVu Sans"/>
              </a:defRPr>
            </a:pPr>
            <a:r>
              <a:t>0.994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521440" y="5641848"/>
            <a:ext cx="2468880" cy="32918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RNA OOF score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504" y="6373368"/>
            <a:ext cx="10424160" cy="4114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chr10:60,138,376 (+) → chr14:47,622,982 (+)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21440" y="6089904"/>
            <a:ext cx="2468880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defRPr sz="1512" b="1" i="0">
                <a:solidFill>
                  <a:srgbClr val="D22D27"/>
                </a:solidFill>
                <a:latin typeface="DejaVu Sans"/>
              </a:defRPr>
            </a:pPr>
            <a:r>
              <a:t>Not reported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defRPr sz="1512" b="1" i="0">
                <a:solidFill>
                  <a:srgbClr val="D22D27"/>
                </a:solidFill>
                <a:latin typeface="DejaVu Sans"/>
              </a:defRPr>
            </a:pPr>
            <a:r>
              <a:t>supported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Evaluate new parent-gene groups, not memorized genes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352 parent-gene components are held intact across 5 folds.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classifier/folds.tsv; predictions.tsv; MODEL_CARD.md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Illustrative partition diagram; exact assignments are in folds.tsv. No validation-derived predictor inputs.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" y="2633472"/>
            <a:ext cx="2359152" cy="1755648"/>
          </a:xfrm>
          <a:prstGeom prst="roundRect">
            <a:avLst>
              <a:gd name="adj" fmla="val 8000"/>
            </a:avLst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779776"/>
            <a:ext cx="2029968" cy="31089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Fold 0</a:t>
            </a:r>
          </a:p>
        </p:txBody>
      </p:sp>
      <p:sp>
        <p:nvSpPr>
          <p:cNvPr id="14" name="Oval 13"/>
          <p:cNvSpPr/>
          <p:nvPr/>
        </p:nvSpPr>
        <p:spPr>
          <a:xfrm>
            <a:off x="107899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335024" y="3547872"/>
            <a:ext cx="292608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62763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883664" y="3547872"/>
            <a:ext cx="292608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17627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59352"/>
            <a:ext cx="2066543" cy="2560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Training groups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8416" y="2633472"/>
            <a:ext cx="2359152" cy="1755648"/>
          </a:xfrm>
          <a:prstGeom prst="roundRect">
            <a:avLst>
              <a:gd name="adj" fmla="val 8000"/>
            </a:avLst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3008" y="2779776"/>
            <a:ext cx="2029968" cy="31089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Fold 1</a:t>
            </a:r>
          </a:p>
        </p:txBody>
      </p:sp>
      <p:sp>
        <p:nvSpPr>
          <p:cNvPr id="22" name="Oval 21"/>
          <p:cNvSpPr/>
          <p:nvPr/>
        </p:nvSpPr>
        <p:spPr>
          <a:xfrm>
            <a:off x="377647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032504" y="3547872"/>
            <a:ext cx="292608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32511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581144" y="3547872"/>
            <a:ext cx="292608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87375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959352"/>
            <a:ext cx="2066543" cy="2560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Training groups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25896" y="2633472"/>
            <a:ext cx="2359152" cy="1755648"/>
          </a:xfrm>
          <a:prstGeom prst="roundRect">
            <a:avLst>
              <a:gd name="adj" fmla="val 8000"/>
            </a:avLst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2779776"/>
            <a:ext cx="2029968" cy="31089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Fold 2</a:t>
            </a:r>
          </a:p>
        </p:txBody>
      </p:sp>
      <p:sp>
        <p:nvSpPr>
          <p:cNvPr id="30" name="Oval 29"/>
          <p:cNvSpPr/>
          <p:nvPr/>
        </p:nvSpPr>
        <p:spPr>
          <a:xfrm>
            <a:off x="647395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729984" y="3547872"/>
            <a:ext cx="292608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02259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278624" y="3547872"/>
            <a:ext cx="292607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571231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959352"/>
            <a:ext cx="2066543" cy="2560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Training groups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23376" y="2633472"/>
            <a:ext cx="2359152" cy="1755648"/>
          </a:xfrm>
          <a:prstGeom prst="roundRect">
            <a:avLst>
              <a:gd name="adj" fmla="val 8000"/>
            </a:avLst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87968" y="2779776"/>
            <a:ext cx="2029968" cy="31089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Fold 3</a:t>
            </a:r>
          </a:p>
        </p:txBody>
      </p:sp>
      <p:sp>
        <p:nvSpPr>
          <p:cNvPr id="38" name="Oval 37"/>
          <p:cNvSpPr/>
          <p:nvPr/>
        </p:nvSpPr>
        <p:spPr>
          <a:xfrm>
            <a:off x="917143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427464" y="3547872"/>
            <a:ext cx="292608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2007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976104" y="3547872"/>
            <a:ext cx="292608" cy="0"/>
          </a:xfrm>
          <a:prstGeom prst="line">
            <a:avLst/>
          </a:prstGeom>
          <a:ln w="18288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268712" y="3419856"/>
            <a:ext cx="256032" cy="256032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3959352"/>
            <a:ext cx="2066543" cy="2560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Training groups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20856" y="2633472"/>
            <a:ext cx="2359152" cy="1755648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85448" y="2779776"/>
            <a:ext cx="2029968" cy="31089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D22D27"/>
                </a:solidFill>
                <a:latin typeface="DejaVu Sans"/>
              </a:defRPr>
            </a:pPr>
            <a:r>
              <a:t>Fold 4</a:t>
            </a:r>
          </a:p>
        </p:txBody>
      </p:sp>
      <p:sp>
        <p:nvSpPr>
          <p:cNvPr id="46" name="Oval 45"/>
          <p:cNvSpPr/>
          <p:nvPr/>
        </p:nvSpPr>
        <p:spPr>
          <a:xfrm>
            <a:off x="11868912" y="3419856"/>
            <a:ext cx="256032" cy="256032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2124944" y="3547872"/>
            <a:ext cx="292608" cy="0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2417552" y="3419856"/>
            <a:ext cx="256032" cy="256032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2673584" y="3547872"/>
            <a:ext cx="292608" cy="0"/>
          </a:xfrm>
          <a:prstGeom prst="line">
            <a:avLst/>
          </a:prstGeom>
          <a:ln w="18288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2966192" y="3419856"/>
            <a:ext cx="256032" cy="256032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567160" y="3959352"/>
            <a:ext cx="2066543" cy="2560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Held-out groups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4663440"/>
            <a:ext cx="9418320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2160" b="1" i="0">
                <a:solidFill>
                  <a:srgbClr val="0000FF"/>
                </a:solidFill>
                <a:latin typeface="DejaVu Sans"/>
              </a:defRPr>
            </a:pPr>
            <a:r>
              <a:t>Fit on training rows 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4663440"/>
            <a:ext cx="2926080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2160" b="1" i="0">
                <a:solidFill>
                  <a:srgbClr val="D22D27"/>
                </a:solidFill>
                <a:latin typeface="DejaVu Sans"/>
              </a:defRPr>
            </a:pPr>
            <a:r>
              <a:t>Score once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221224"/>
            <a:ext cx="29718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" y="5394960"/>
            <a:ext cx="2651760" cy="60350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172431"/>
                </a:solidFill>
                <a:latin typeface="DejaVu Sans"/>
              </a:defRPr>
            </a:pPr>
            <a:r>
              <a:t>Median imputation</a:t>
            </a:r>
          </a:p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172431"/>
                </a:solidFill>
                <a:latin typeface="DejaVu Sans"/>
              </a:defRPr>
            </a:pPr>
            <a:r>
              <a:t>+ missing indicators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694176" y="5678424"/>
            <a:ext cx="192024" cy="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788871" y="5678424"/>
            <a:ext cx="97329" cy="5067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3788871" y="5627753"/>
            <a:ext cx="97329" cy="50671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977639" y="5221224"/>
            <a:ext cx="29718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51376" y="5394960"/>
            <a:ext cx="2651760" cy="60350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172431"/>
                </a:solidFill>
                <a:latin typeface="DejaVu Sans"/>
              </a:defRPr>
            </a:pPr>
            <a:r>
              <a:t>Feature scaling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31736" y="5678424"/>
            <a:ext cx="192024" cy="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126431" y="5678424"/>
            <a:ext cx="97329" cy="5067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7126431" y="5627753"/>
            <a:ext cx="97329" cy="50671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315200" y="5221224"/>
            <a:ext cx="29718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88936" y="5394960"/>
            <a:ext cx="2651760" cy="60350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172431"/>
                </a:solidFill>
                <a:latin typeface="DejaVu Sans"/>
              </a:defRPr>
            </a:pPr>
            <a:r>
              <a:t>Logistic regression</a:t>
            </a:r>
          </a:p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172431"/>
                </a:solidFill>
                <a:latin typeface="DejaVu Sans"/>
              </a:defRPr>
            </a:pPr>
            <a:r>
              <a:t>L2 · C = 1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305288" y="5678424"/>
            <a:ext cx="758952" cy="0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0966911" y="5678424"/>
            <a:ext cx="97329" cy="50670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66911" y="5627753"/>
            <a:ext cx="97329" cy="50671"/>
          </a:xfrm>
          <a:prstGeom prst="line">
            <a:avLst/>
          </a:prstGeom>
          <a:ln w="27432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11192256" y="5221224"/>
            <a:ext cx="2834640" cy="932688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20272" y="5404104"/>
            <a:ext cx="2578608" cy="5943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defRPr sz="1512" b="1" i="0">
                <a:solidFill>
                  <a:srgbClr val="D22D27"/>
                </a:solidFill>
                <a:latin typeface="DejaVu Sans"/>
              </a:defRPr>
            </a:pPr>
            <a:r>
              <a:t>Out-of-fold</a:t>
            </a:r>
          </a:p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defRPr sz="1512" b="1" i="0">
                <a:solidFill>
                  <a:srgbClr val="D22D27"/>
                </a:solidFill>
                <a:latin typeface="DejaVu Sans"/>
              </a:defRPr>
            </a:pPr>
            <a:r>
              <a:t>reported-support score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" y="6565392"/>
            <a:ext cx="13405104" cy="347472"/>
          </a:xfrm>
          <a:prstGeom prst="rect">
            <a:avLst/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6629400"/>
            <a:ext cx="13185648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0000FF"/>
                </a:solidFill>
                <a:latin typeface="DejaVu Sans"/>
              </a:defRPr>
            </a:pPr>
            <a:r>
              <a:t>Hi-C ablation: both classifiers use identical contact-observed training and test candidates.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A small AP increase; uncertainty includes no benefit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Matched cohort: 401 ordered pairs, 92 reported supported. Identical training rows and fixed folds.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classifier/metrics.json → matched_hic + comparison; predictions.tsv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RNA AP 0.296 versus RNA+Hi-C AP 0.300 does not establish improvement; bootstrap interval crosses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5943600"/>
            <a:ext cx="7955280" cy="0"/>
          </a:xfrm>
          <a:prstGeom prst="line">
            <a:avLst/>
          </a:prstGeom>
          <a:ln w="18288">
            <a:solidFill>
              <a:srgbClr val="EEF1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5824728"/>
            <a:ext cx="384048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6B747E"/>
                </a:solidFill>
                <a:latin typeface="DejaVu Sans"/>
              </a:defRPr>
            </a:pPr>
            <a:r>
              <a:t>0.0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5125212"/>
            <a:ext cx="7955280" cy="0"/>
          </a:xfrm>
          <a:prstGeom prst="line">
            <a:avLst/>
          </a:prstGeom>
          <a:ln w="18288">
            <a:solidFill>
              <a:srgbClr val="EEF1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5006340"/>
            <a:ext cx="384048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6B747E"/>
                </a:solidFill>
                <a:latin typeface="DejaVu Sans"/>
              </a:defRPr>
            </a:pPr>
            <a:r>
              <a:t>0.1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4306824"/>
            <a:ext cx="7955280" cy="0"/>
          </a:xfrm>
          <a:prstGeom prst="line">
            <a:avLst/>
          </a:prstGeom>
          <a:ln w="18288">
            <a:solidFill>
              <a:srgbClr val="EEF1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187952"/>
            <a:ext cx="384048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6B747E"/>
                </a:solidFill>
                <a:latin typeface="DejaVu Sans"/>
              </a:defRPr>
            </a:pPr>
            <a:r>
              <a:t>0.2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488436"/>
            <a:ext cx="7955280" cy="0"/>
          </a:xfrm>
          <a:prstGeom prst="line">
            <a:avLst/>
          </a:prstGeom>
          <a:ln w="18288">
            <a:solidFill>
              <a:srgbClr val="EEF1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3369564"/>
            <a:ext cx="384048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6B747E"/>
                </a:solidFill>
                <a:latin typeface="DejaVu Sans"/>
              </a:defRPr>
            </a:pPr>
            <a:r>
              <a:t>0.3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2670048"/>
            <a:ext cx="7955280" cy="0"/>
          </a:xfrm>
          <a:prstGeom prst="line">
            <a:avLst/>
          </a:prstGeom>
          <a:ln w="18288">
            <a:solidFill>
              <a:srgbClr val="EEF1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551176"/>
            <a:ext cx="384048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6B747E"/>
                </a:solidFill>
                <a:latin typeface="DejaVu Sans"/>
              </a:defRPr>
            </a:pPr>
            <a:r>
              <a:t>0.4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3769669"/>
            <a:ext cx="1463040" cy="2173930"/>
          </a:xfrm>
          <a:prstGeom prst="rect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3358189"/>
            <a:ext cx="1682496" cy="32918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633"/>
              </a:lnSpc>
              <a:spcBef>
                <a:spcPts val="0"/>
              </a:spcBef>
              <a:spcAft>
                <a:spcPts val="0"/>
              </a:spcAft>
              <a:defRPr sz="2232" b="1" i="0">
                <a:solidFill>
                  <a:srgbClr val="6B747E"/>
                </a:solidFill>
                <a:latin typeface="DejaVu Sans"/>
              </a:defRPr>
            </a:pPr>
            <a:r>
              <a:t>0.266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190488"/>
            <a:ext cx="2011680" cy="4754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172431"/>
                </a:solidFill>
                <a:latin typeface="DejaVu Sans"/>
              </a:defRPr>
            </a:pPr>
            <a:r>
              <a:t>Read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3521580"/>
            <a:ext cx="1463040" cy="2422019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2" y="3110100"/>
            <a:ext cx="1682496" cy="32918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633"/>
              </a:lnSpc>
              <a:spcBef>
                <a:spcPts val="0"/>
              </a:spcBef>
              <a:spcAft>
                <a:spcPts val="0"/>
              </a:spcAft>
              <a:defRPr sz="2232" b="1" i="0">
                <a:solidFill>
                  <a:srgbClr val="0000FF"/>
                </a:solidFill>
                <a:latin typeface="DejaVu Sans"/>
              </a:defRPr>
            </a:pPr>
            <a:r>
              <a:t>0.296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6190488"/>
            <a:ext cx="2011680" cy="4754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172431"/>
                </a:solidFill>
                <a:latin typeface="DejaVu Sans"/>
              </a:defRPr>
            </a:pPr>
            <a:r>
              <a:t>RNA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491765"/>
            <a:ext cx="1463040" cy="2451834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080285"/>
            <a:ext cx="1682496" cy="32918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633"/>
              </a:lnSpc>
              <a:spcBef>
                <a:spcPts val="0"/>
              </a:spcBef>
              <a:spcAft>
                <a:spcPts val="0"/>
              </a:spcAft>
              <a:defRPr sz="2232" b="1" i="0">
                <a:solidFill>
                  <a:srgbClr val="D22D27"/>
                </a:solidFill>
                <a:latin typeface="DejaVu Sans"/>
              </a:defRPr>
            </a:pPr>
            <a:r>
              <a:t>0.300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6190488"/>
            <a:ext cx="2011680" cy="4754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1" i="0">
                <a:solidFill>
                  <a:srgbClr val="172431"/>
                </a:solidFill>
                <a:latin typeface="DejaVu Sans"/>
              </a:defRPr>
            </a:pPr>
            <a:r>
              <a:t>RNA + Hi-C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651760"/>
            <a:ext cx="4389120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  <a:defRPr sz="2304" b="1" i="0">
                <a:solidFill>
                  <a:srgbClr val="172431"/>
                </a:solidFill>
                <a:latin typeface="DejaVu Sans"/>
              </a:defRPr>
            </a:pPr>
            <a:r>
              <a:t>Hi-C − RNA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136392"/>
            <a:ext cx="4389120" cy="64922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4757"/>
              </a:lnSpc>
              <a:spcBef>
                <a:spcPts val="0"/>
              </a:spcBef>
              <a:spcAft>
                <a:spcPts val="0"/>
              </a:spcAft>
              <a:defRPr sz="4032" b="1" i="0">
                <a:solidFill>
                  <a:srgbClr val="D22D27"/>
                </a:solidFill>
                <a:latin typeface="DejaVu Sans"/>
              </a:defRPr>
            </a:pPr>
            <a:r>
              <a:t>+0.0036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3867912"/>
            <a:ext cx="4389120" cy="5943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28" b="0" i="0">
                <a:solidFill>
                  <a:srgbClr val="6B747E"/>
                </a:solidFill>
                <a:latin typeface="DejaVu Sans"/>
              </a:defRPr>
            </a:pPr>
            <a:r>
              <a:t>difference in average precision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55480" y="5422392"/>
            <a:ext cx="4114800" cy="0"/>
          </a:xfrm>
          <a:prstGeom prst="line">
            <a:avLst/>
          </a:prstGeom>
          <a:ln w="18288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25843" y="4782312"/>
            <a:ext cx="0" cy="1280160"/>
          </a:xfrm>
          <a:prstGeom prst="line">
            <a:avLst/>
          </a:prstGeom>
          <a:ln w="18288">
            <a:solidFill>
              <a:srgbClr val="6B74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264570" y="5422392"/>
            <a:ext cx="2915132" cy="0"/>
          </a:xfrm>
          <a:prstGeom prst="line">
            <a:avLst/>
          </a:prstGeom>
          <a:ln w="54864">
            <a:solidFill>
              <a:srgbClr val="D22D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1470682" y="5330952"/>
            <a:ext cx="182880" cy="182880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6" y="6300216"/>
            <a:ext cx="4553712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72431"/>
                </a:solidFill>
                <a:latin typeface="DejaVu Sans"/>
              </a:defRPr>
            </a:pPr>
            <a:r>
              <a:t>95% interval [-0.031, 0.047]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Top-ranked candidates tell a more cautious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A small AP change does not guarantee better prioritization at a chosen cutoff.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classifier/metrics.json → matched_hic / interchromosomal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Dots represent reporting labels, not verified true/false chimeras. The compared ranked lists need not contain the same pairs.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06624"/>
            <a:ext cx="2971800" cy="5943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378"/>
              </a:lnSpc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6B747E"/>
                </a:solidFill>
                <a:latin typeface="DejaVu Sans"/>
              </a:defRPr>
            </a:pPr>
            <a:r>
              <a:t>Read-support</a:t>
            </a:r>
          </a:p>
          <a:p>
            <a:pPr algn="l">
              <a:lnSpc>
                <a:spcPts val="2378"/>
              </a:lnSpc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6B747E"/>
                </a:solidFill>
                <a:latin typeface="DejaVu Sans"/>
              </a:defRPr>
            </a:pPr>
            <a:r>
              <a:t>ranking</a:t>
            </a:r>
          </a:p>
        </p:txBody>
      </p:sp>
      <p:sp>
        <p:nvSpPr>
          <p:cNvPr id="13" name="Oval 12"/>
          <p:cNvSpPr/>
          <p:nvPr/>
        </p:nvSpPr>
        <p:spPr>
          <a:xfrm>
            <a:off x="3886200" y="2642616"/>
            <a:ext cx="246888" cy="246888"/>
          </a:xfrm>
          <a:prstGeom prst="ellipse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70248" y="2642616"/>
            <a:ext cx="246888" cy="246888"/>
          </a:xfrm>
          <a:prstGeom prst="ellipse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54296" y="2642616"/>
            <a:ext cx="246888" cy="246888"/>
          </a:xfrm>
          <a:prstGeom prst="ellipse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38344" y="2642616"/>
            <a:ext cx="246888" cy="246888"/>
          </a:xfrm>
          <a:prstGeom prst="ellipse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22392" y="2642616"/>
            <a:ext cx="246888" cy="246888"/>
          </a:xfrm>
          <a:prstGeom prst="ellipse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06440" y="2642616"/>
            <a:ext cx="246888" cy="246888"/>
          </a:xfrm>
          <a:prstGeom prst="ellipse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90488" y="2642616"/>
            <a:ext cx="246888" cy="246888"/>
          </a:xfrm>
          <a:prstGeom prst="ellipse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74536" y="2642616"/>
            <a:ext cx="246888" cy="246888"/>
          </a:xfrm>
          <a:prstGeom prst="ellipse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58584" y="2642616"/>
            <a:ext cx="246888" cy="246888"/>
          </a:xfrm>
          <a:prstGeom prst="ellipse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42631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26679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10727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94776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78824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46920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30968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15016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99064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83112" y="2642616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0" y="2633472"/>
            <a:ext cx="2011680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973"/>
              </a:lnSpc>
              <a:spcBef>
                <a:spcPts val="0"/>
              </a:spcBef>
              <a:spcAft>
                <a:spcPts val="0"/>
              </a:spcAft>
              <a:defRPr sz="2520" b="1" i="0">
                <a:solidFill>
                  <a:srgbClr val="6B747E"/>
                </a:solidFill>
                <a:latin typeface="DejaVu Sans"/>
              </a:defRPr>
            </a:pPr>
            <a:r>
              <a:t>9 /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4005072"/>
            <a:ext cx="2971800" cy="5943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378"/>
              </a:lnSpc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0000FF"/>
                </a:solidFill>
                <a:latin typeface="DejaVu Sans"/>
              </a:defRPr>
            </a:pPr>
            <a:r>
              <a:t>RNA</a:t>
            </a:r>
          </a:p>
        </p:txBody>
      </p:sp>
      <p:sp>
        <p:nvSpPr>
          <p:cNvPr id="35" name="Oval 34"/>
          <p:cNvSpPr/>
          <p:nvPr/>
        </p:nvSpPr>
        <p:spPr>
          <a:xfrm>
            <a:off x="3886200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70248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54296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38344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22392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06440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90488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74536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8584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42631" y="3941063"/>
            <a:ext cx="246888" cy="24688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26679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10727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94776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878824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62872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646920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30968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15016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99064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83112" y="3941063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978640" y="3931920"/>
            <a:ext cx="2011680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973"/>
              </a:lnSpc>
              <a:spcBef>
                <a:spcPts val="0"/>
              </a:spcBef>
              <a:spcAft>
                <a:spcPts val="0"/>
              </a:spcAft>
              <a:defRPr sz="2520" b="1" i="0">
                <a:solidFill>
                  <a:srgbClr val="0000FF"/>
                </a:solidFill>
                <a:latin typeface="DejaVu Sans"/>
              </a:defRPr>
            </a:pPr>
            <a:r>
              <a:t>10 / 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5303520"/>
            <a:ext cx="2971800" cy="5943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378"/>
              </a:lnSpc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D22D27"/>
                </a:solidFill>
                <a:latin typeface="DejaVu Sans"/>
              </a:defRPr>
            </a:pPr>
            <a:r>
              <a:t>RNA + Hi-C</a:t>
            </a:r>
          </a:p>
        </p:txBody>
      </p:sp>
      <p:sp>
        <p:nvSpPr>
          <p:cNvPr id="57" name="Oval 56"/>
          <p:cNvSpPr/>
          <p:nvPr/>
        </p:nvSpPr>
        <p:spPr>
          <a:xfrm>
            <a:off x="3886200" y="5239512"/>
            <a:ext cx="246888" cy="24688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70248" y="5239512"/>
            <a:ext cx="246888" cy="24688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654296" y="5239512"/>
            <a:ext cx="246888" cy="24688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038344" y="5239512"/>
            <a:ext cx="246888" cy="24688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22392" y="5239512"/>
            <a:ext cx="246888" cy="24688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06440" y="5239512"/>
            <a:ext cx="246888" cy="24688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190488" y="5239512"/>
            <a:ext cx="246888" cy="24688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574536" y="5239512"/>
            <a:ext cx="246888" cy="24688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958584" y="5239512"/>
            <a:ext cx="246888" cy="24688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342631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726679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110727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494776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878824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262872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646920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030968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415016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799064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183112" y="5239512"/>
            <a:ext cx="246888" cy="246888"/>
          </a:xfrm>
          <a:prstGeom prst="ellipse">
            <a:avLst/>
          </a:prstGeom>
          <a:solidFill>
            <a:srgbClr val="EEF1F6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978640" y="5230368"/>
            <a:ext cx="2011680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973"/>
              </a:lnSpc>
              <a:spcBef>
                <a:spcPts val="0"/>
              </a:spcBef>
              <a:spcAft>
                <a:spcPts val="0"/>
              </a:spcAft>
              <a:defRPr sz="2520" b="1" i="0">
                <a:solidFill>
                  <a:srgbClr val="D22D27"/>
                </a:solidFill>
                <a:latin typeface="DejaVu Sans"/>
              </a:defRPr>
            </a:pPr>
            <a:r>
              <a:t>9 / 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4360" y="6492240"/>
            <a:ext cx="13441680" cy="621792"/>
          </a:xfrm>
          <a:prstGeom prst="rect">
            <a:avLst/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7240" y="6629400"/>
            <a:ext cx="1303020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1" i="0">
                <a:solidFill>
                  <a:srgbClr val="0000FF"/>
                </a:solidFill>
                <a:latin typeface="DejaVu Sans"/>
              </a:defRPr>
            </a:pPr>
            <a:r>
              <a:t>Interchromosomal matched subset: RNA 5 / 20 → RNA + Hi-C 7 / 20 (244 pairs; 58 reported supported)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An actual NVIDIA run, with no probe-panel matches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Parabricks on an A100-SXM4-80GB, using a deterministic two-million-pair RNA subsample.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compute/pilot_summary.json; evidence.tsv; Chimeric.out.junction; independent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Zero probe matches does not refute candidates. 85.49 s is alignment only; no matched CPU speedup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14600"/>
            <a:ext cx="4069080" cy="2167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514600"/>
            <a:ext cx="45720" cy="216712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97480"/>
            <a:ext cx="3685032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6B747E"/>
                </a:solidFill>
                <a:latin typeface="DejaVu Sans"/>
              </a:defRPr>
            </a:pPr>
            <a:r>
              <a:t>VALIDATED READ 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08960"/>
            <a:ext cx="3685032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  <a:defRPr sz="3744" b="1" i="0">
                <a:solidFill>
                  <a:srgbClr val="0000FF"/>
                </a:solidFill>
                <a:latin typeface="DejaVu Sans"/>
              </a:defRPr>
            </a:pPr>
            <a:r>
              <a:t>2,000,000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895344"/>
            <a:ext cx="3685032" cy="7040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Deterministic prefix subsample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6088" y="2514600"/>
            <a:ext cx="4069080" cy="2167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76088" y="2514600"/>
            <a:ext cx="45720" cy="216712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7256" y="2697480"/>
            <a:ext cx="3685032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6B747E"/>
                </a:solidFill>
                <a:latin typeface="DejaVu Sans"/>
              </a:defRPr>
            </a:pPr>
            <a:r>
              <a:t>ALIGNMENT WALL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3108960"/>
            <a:ext cx="3685032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  <a:defRPr sz="3744" b="1" i="0">
                <a:solidFill>
                  <a:srgbClr val="D22D27"/>
                </a:solidFill>
                <a:latin typeface="DejaVu Sans"/>
              </a:defRPr>
            </a:pPr>
            <a:r>
              <a:t>85.49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3895344"/>
            <a:ext cx="3685032" cy="7040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Reference / setup excluded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2514600"/>
            <a:ext cx="4069080" cy="2167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0" y="2514600"/>
            <a:ext cx="45720" cy="2167128"/>
          </a:xfrm>
          <a:prstGeom prst="rect">
            <a:avLst/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8128" y="2697480"/>
            <a:ext cx="3685032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6B747E"/>
                </a:solidFill>
                <a:latin typeface="DejaVu Sans"/>
              </a:defRPr>
            </a:pPr>
            <a:r>
              <a:t>MATCHED PROBE 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8128" y="3108960"/>
            <a:ext cx="3685032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  <a:defRPr sz="3744" b="1" i="0">
                <a:solidFill>
                  <a:srgbClr val="6B747E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8128" y="3895344"/>
            <a:ext cx="3685032" cy="7040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Independent GPU evidence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5148072"/>
            <a:ext cx="6400800" cy="4572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888"/>
              </a:lnSpc>
              <a:spcBef>
                <a:spcPts val="0"/>
              </a:spcBef>
              <a:spcAft>
                <a:spcPts val="0"/>
              </a:spcAft>
              <a:defRPr sz="2448" b="1" i="0">
                <a:solidFill>
                  <a:srgbClr val="172431"/>
                </a:solidFill>
                <a:latin typeface="DejaVu Sans"/>
              </a:defRPr>
            </a:pPr>
            <a:r>
              <a:t>28,482 raw chimeric records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" y="5861304"/>
            <a:ext cx="893708" cy="512064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4644" y="5861304"/>
            <a:ext cx="6878691" cy="512064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01384"/>
            <a:ext cx="4389120" cy="5943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3,275 resolved split-junction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6501384"/>
            <a:ext cx="4370832" cy="5943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6B747E"/>
                </a:solidFill>
                <a:latin typeface="DejaVu Sans"/>
              </a:defRPr>
            </a:pPr>
            <a:r>
              <a:t>25,207 encompassing-mate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6B747E"/>
                </a:solidFill>
                <a:latin typeface="DejaVu Sans"/>
              </a:defRPr>
            </a:pPr>
            <a:r>
              <a:t>records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06840" y="5870448"/>
            <a:ext cx="914400" cy="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823911" y="5870448"/>
            <a:ext cx="97329" cy="50670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9823911" y="5819777"/>
            <a:ext cx="97329" cy="50671"/>
          </a:xfrm>
          <a:prstGeom prst="line">
            <a:avLst/>
          </a:prstGeom>
          <a:ln w="27432">
            <a:solidFill>
              <a:srgbClr val="6B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341864" y="5294376"/>
            <a:ext cx="3593592" cy="8686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2463"/>
              </a:lnSpc>
              <a:spcBef>
                <a:spcPts val="0"/>
              </a:spcBef>
              <a:spcAft>
                <a:spcPts val="0"/>
              </a:spcAft>
              <a:defRPr sz="2088" b="1" i="0">
                <a:solidFill>
                  <a:srgbClr val="172431"/>
                </a:solidFill>
                <a:latin typeface="DejaVu Sans"/>
              </a:defRPr>
            </a:pPr>
            <a:r>
              <a:t>±10 nt</a:t>
            </a:r>
          </a:p>
          <a:p>
            <a:pPr algn="ctr">
              <a:lnSpc>
                <a:spcPts val="2463"/>
              </a:lnSpc>
              <a:spcBef>
                <a:spcPts val="0"/>
              </a:spcBef>
              <a:spcAft>
                <a:spcPts val="0"/>
              </a:spcAft>
              <a:defRPr sz="2088" b="1" i="0">
                <a:solidFill>
                  <a:srgbClr val="172431"/>
                </a:solidFill>
                <a:latin typeface="DejaVu Sans"/>
              </a:defRPr>
            </a:pPr>
            <a:r>
              <a:t>ordered-junction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55664"/>
            <a:ext cx="3959352" cy="6309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ct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$1.35 quote-based instance estimate</a:t>
            </a:r>
          </a:p>
          <a:p>
            <a:pPr algn="ct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Instance deleted; watchdog cancelled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738"/>
              </a:lnSpc>
              <a:spcBef>
                <a:spcPts val="0"/>
              </a:spcBef>
              <a:spcAft>
                <a:spcPts val="0"/>
              </a:spcAft>
              <a:defRPr sz="3168" b="1" i="0">
                <a:solidFill>
                  <a:srgbClr val="172431"/>
                </a:solidFill>
                <a:latin typeface="DejaVu Sans"/>
              </a:defRPr>
            </a:pPr>
            <a:r>
              <a:t>OpenAI turns cached evidence into traceable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Five Codex-authored reports separate observations, interpretations, and unknowns.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demo/reports/*.json; sources/passages.json; report_review.md; scripts/demo/reports.py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No Responses API call occurred without credentials. The optional strict-schema API adapter is separate; reports are not model features or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679192"/>
            <a:ext cx="28346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862072"/>
            <a:ext cx="2414016" cy="42062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463"/>
              </a:lnSpc>
              <a:spcBef>
                <a:spcPts val="0"/>
              </a:spcBef>
              <a:spcAft>
                <a:spcPts val="0"/>
              </a:spcAft>
              <a:defRPr sz="2088" b="1" i="0">
                <a:solidFill>
                  <a:srgbClr val="0000FF"/>
                </a:solidFill>
                <a:latin typeface="DejaVu Sans"/>
              </a:defRPr>
            </a:pPr>
            <a:r>
              <a:t>Evidence row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" y="3474720"/>
            <a:ext cx="2157984" cy="0"/>
          </a:xfrm>
          <a:prstGeom prst="line">
            <a:avLst/>
          </a:prstGeom>
          <a:ln w="64008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" y="3685032"/>
            <a:ext cx="1929384" cy="0"/>
          </a:xfrm>
          <a:prstGeom prst="line">
            <a:avLst/>
          </a:prstGeom>
          <a:ln w="64008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" y="3895344"/>
            <a:ext cx="1700784" cy="0"/>
          </a:xfrm>
          <a:prstGeom prst="line">
            <a:avLst/>
          </a:prstGeom>
          <a:ln w="64008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68496" y="2679192"/>
            <a:ext cx="28346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8" y="2862072"/>
            <a:ext cx="2414016" cy="42062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1" i="0">
                <a:solidFill>
                  <a:srgbClr val="D22D27"/>
                </a:solidFill>
                <a:latin typeface="DejaVu Sans"/>
              </a:defRPr>
            </a:pPr>
            <a:r>
              <a:t>Primary passages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97096" y="3474720"/>
            <a:ext cx="2157984" cy="0"/>
          </a:xfrm>
          <a:prstGeom prst="line">
            <a:avLst/>
          </a:prstGeom>
          <a:ln w="64008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97096" y="3685032"/>
            <a:ext cx="1929384" cy="0"/>
          </a:xfrm>
          <a:prstGeom prst="line">
            <a:avLst/>
          </a:prstGeom>
          <a:ln w="64008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3895344"/>
            <a:ext cx="1700784" cy="0"/>
          </a:xfrm>
          <a:prstGeom prst="line">
            <a:avLst/>
          </a:prstGeom>
          <a:ln w="64008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31736" y="3511296"/>
            <a:ext cx="1069847" cy="0"/>
          </a:xfrm>
          <a:prstGeom prst="line">
            <a:avLst/>
          </a:prstGeom>
          <a:ln w="36576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004255" y="3511296"/>
            <a:ext cx="97328" cy="50670"/>
          </a:xfrm>
          <a:prstGeom prst="line">
            <a:avLst/>
          </a:prstGeom>
          <a:ln w="36576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8004255" y="3460625"/>
            <a:ext cx="97328" cy="50671"/>
          </a:xfrm>
          <a:prstGeom prst="line">
            <a:avLst/>
          </a:prstGeom>
          <a:ln w="36576">
            <a:solidFill>
              <a:srgbClr val="1724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75904" y="2514600"/>
            <a:ext cx="5632704" cy="3831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22792" y="2807208"/>
            <a:ext cx="1874519" cy="347472"/>
          </a:xfrm>
          <a:prstGeom prst="rect">
            <a:avLst/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2871216"/>
            <a:ext cx="1655064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0000FF"/>
                </a:solidFill>
                <a:latin typeface="DejaVu Sans"/>
              </a:defRPr>
            </a:pPr>
            <a:r>
              <a:t>OBSERVATION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3273552"/>
            <a:ext cx="5065776" cy="5760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431"/>
                </a:solidFill>
                <a:latin typeface="DejaVu Sans"/>
              </a:defRPr>
            </a:pPr>
            <a:r>
              <a:t>Reported NanoString pair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22792" y="3950208"/>
            <a:ext cx="1874519" cy="347472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4014215"/>
            <a:ext cx="1655064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D22D27"/>
                </a:solidFill>
                <a:latin typeface="DejaVu Sans"/>
              </a:defRPr>
            </a:pPr>
            <a:r>
              <a:t>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4416552"/>
            <a:ext cx="5065776" cy="5760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431"/>
                </a:solidFill>
                <a:latin typeface="DejaVu Sans"/>
              </a:defRPr>
            </a:pPr>
            <a:r>
              <a:t>Paper CTCF perturbation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22792" y="5093208"/>
            <a:ext cx="1874519" cy="347472"/>
          </a:xfrm>
          <a:prstGeom prst="rect">
            <a:avLst/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5157216"/>
            <a:ext cx="1655064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0000FF"/>
                </a:solidFill>
                <a:latin typeface="DejaVu Sans"/>
              </a:defRPr>
            </a:pPr>
            <a:r>
              <a:t>UNKNOWN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5559552"/>
            <a:ext cx="5065776" cy="5760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431"/>
                </a:solidFill>
                <a:latin typeface="DejaVu Sans"/>
              </a:defRPr>
            </a:pPr>
            <a:r>
              <a:t>Assay QC; function beyond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928616"/>
            <a:ext cx="6894576" cy="60350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803"/>
              </a:lnSpc>
              <a:spcBef>
                <a:spcPts val="0"/>
              </a:spcBef>
              <a:spcAft>
                <a:spcPts val="0"/>
              </a:spcAft>
              <a:defRPr sz="2376" b="1" i="0">
                <a:solidFill>
                  <a:srgbClr val="172431"/>
                </a:solidFill>
                <a:latin typeface="DejaVu Sans"/>
              </a:defRPr>
            </a:pPr>
            <a:r>
              <a:t>Source identity + exact input hash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5696712"/>
            <a:ext cx="6931152" cy="8869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6B747E"/>
                </a:solidFill>
                <a:latin typeface="DejaVu Sans"/>
              </a:defRPr>
            </a:pPr>
            <a:r>
              <a:t>Supported: Gsdmd:Tmem106a, Cd274:Lacc1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6B747E"/>
                </a:solidFill>
                <a:latin typeface="DejaVu Sans"/>
              </a:defRPr>
            </a:pPr>
            <a:r>
              <a:t>Contrast: Psap:Lgals3 is not reported supported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775704"/>
            <a:ext cx="13414248" cy="347472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6839712"/>
            <a:ext cx="1319479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D22D27"/>
                </a:solidFill>
                <a:latin typeface="DejaVu Sans"/>
              </a:defRPr>
            </a:pPr>
            <a:r>
              <a:t>Observed evidence stays distinct from biological authenticity, translation, and function.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A predicted chimera is not an experimental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Protein architecture can be source-grounded while the three-dimensional fold remains uncertain.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structures/manifest.json; PDB 6N9N; Venezia et al., Nature (2026), doi:10.1038/s41586-026-10982-x Fig. 3a /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Gsdmd:Tmem106a model is low confidence. Experimental parent GSDMD coordinates do not validate the chimera fold.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59736"/>
            <a:ext cx="6547104" cy="40142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06040"/>
            <a:ext cx="6144768" cy="4114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378"/>
              </a:lnSpc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0000FF"/>
                </a:solidFill>
                <a:latin typeface="DejaVu Sans"/>
              </a:defRPr>
            </a:pPr>
            <a:r>
              <a:t>Experimental parent · GSDMD</a:t>
            </a:r>
          </a:p>
        </p:txBody>
      </p:sp>
      <p:pic>
        <p:nvPicPr>
          <p:cNvPr id="14" name="Picture 13" descr="cart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1" y="3026664"/>
            <a:ext cx="3730752" cy="2798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5528" y="5971032"/>
            <a:ext cx="6144768" cy="4754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PDB 6N9N · experimental mouse parent</a:t>
            </a:r>
          </a:p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3.30 Å crystallographic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459736"/>
            <a:ext cx="6547104" cy="40142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2606040"/>
            <a:ext cx="6144768" cy="4114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378"/>
              </a:lnSpc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D22D27"/>
                </a:solidFill>
                <a:latin typeface="DejaVu Sans"/>
              </a:defRPr>
            </a:pPr>
            <a:r>
              <a:t>Predicted candidate · 118 residues</a:t>
            </a:r>
          </a:p>
        </p:txBody>
      </p:sp>
      <p:pic>
        <p:nvPicPr>
          <p:cNvPr id="18" name="Picture 17" descr="carto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3026664"/>
            <a:ext cx="3730752" cy="27980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99248" y="5971032"/>
            <a:ext cx="6144768" cy="4754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Boltz2 candidate prediction · mean pLDDT 48.70</a:t>
            </a:r>
          </a:p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defRPr sz="1368" b="0" i="0">
                <a:solidFill>
                  <a:srgbClr val="6B747E"/>
                </a:solidFill>
                <a:latin typeface="DejaVu Sans"/>
              </a:defRPr>
            </a:pPr>
            <a:r>
              <a:t>pTM 0.336 · low confidence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775704"/>
            <a:ext cx="13441680" cy="347472"/>
          </a:xfrm>
          <a:prstGeom prst="rect">
            <a:avLst/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6839712"/>
            <a:ext cx="13222224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0000FF"/>
                </a:solidFill>
                <a:latin typeface="DejaVu Sans"/>
              </a:defRPr>
            </a:pPr>
            <a:r>
              <a:t>Blue residues 1–73: Gsdmd-derived. Red residues 74–118: novel out-of-frame C terminus.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5486400" cy="64008"/>
          </a:xfrm>
          <a:prstGeom prst="rect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20040"/>
            <a:ext cx="11887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529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6B747E"/>
                </a:solidFill>
                <a:latin typeface="DejaVu Sans"/>
              </a:defRPr>
            </a:pPr>
            <a:r>
              <a:t>chRNA / EVIDENCE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86384"/>
            <a:ext cx="13459968" cy="7132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  <a:defRPr sz="3240" b="1" i="0">
                <a:solidFill>
                  <a:srgbClr val="172431"/>
                </a:solidFill>
                <a:latin typeface="DejaVu Sans"/>
              </a:defRPr>
            </a:pPr>
            <a:r>
              <a:t>An auditable result. An independent test comes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3459968" cy="56692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6B747E"/>
                </a:solidFill>
                <a:latin typeface="DejaVu Sans"/>
              </a:defRPr>
            </a:pPr>
            <a:r>
              <a:t>This gallery demonstrates an auditable experiment and a working evidence product.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" y="7434072"/>
            <a:ext cx="13459968" cy="0"/>
          </a:xfrm>
          <a:prstGeom prst="line">
            <a:avLst/>
          </a:prstGeom>
          <a:ln w="9144">
            <a:solidFill>
              <a:srgbClr val="CAD1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7580375"/>
            <a:ext cx="1261872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B747E"/>
                </a:solidFill>
                <a:latin typeface="DejaVu Sans"/>
              </a:defRPr>
            </a:pPr>
            <a:r>
              <a:t>SOURCE All reviewed artifacts; dataset audit; MODEL_CARD.md; compute + demo status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7872983"/>
            <a:ext cx="12710160" cy="2103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64" b="0" i="0">
                <a:solidFill>
                  <a:srgbClr val="6B747E"/>
                </a:solidFill>
                <a:latin typeface="DejaVu Sans"/>
              </a:defRPr>
            </a:pPr>
            <a:r>
              <a:t>METHOD / LIMIT Probe-panel selection, unknown QC, coarse Hi-C context, small labels and model uncertainty limit generalization.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5960" y="7662672"/>
            <a:ext cx="64008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ts val="1699"/>
              </a:lnSpc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6B747E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468880"/>
            <a:ext cx="6537960" cy="3685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706624"/>
            <a:ext cx="6071616" cy="4754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058"/>
              </a:lnSpc>
              <a:spcBef>
                <a:spcPts val="0"/>
              </a:spcBef>
              <a:spcAft>
                <a:spcPts val="0"/>
              </a:spcAft>
              <a:defRPr sz="2592" b="1" i="0">
                <a:solidFill>
                  <a:srgbClr val="0000FF"/>
                </a:solidFill>
                <a:latin typeface="DejaVu Sans"/>
              </a:defRPr>
            </a:pPr>
            <a:r>
              <a:t>Demonstrated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566160"/>
            <a:ext cx="109728" cy="10972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419856"/>
            <a:ext cx="5586984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431"/>
                </a:solidFill>
                <a:latin typeface="DejaVu Sans"/>
              </a:defRPr>
            </a:pPr>
            <a:r>
              <a:t>479 reproducible evaluated pairs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4151376"/>
            <a:ext cx="109728" cy="10972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005072"/>
            <a:ext cx="5586984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431"/>
                </a:solidFill>
                <a:latin typeface="DejaVu Sans"/>
              </a:defRPr>
            </a:pPr>
            <a:r>
              <a:t>Gene-disjoint held-out predictions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736592"/>
            <a:ext cx="109728" cy="10972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590288"/>
            <a:ext cx="5586984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431"/>
                </a:solidFill>
                <a:latin typeface="DejaVu Sans"/>
              </a:defRPr>
            </a:pPr>
            <a:r>
              <a:t>Real GPU-generated junction output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" y="5321808"/>
            <a:ext cx="109728" cy="109728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5175504"/>
            <a:ext cx="5586984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431"/>
                </a:solidFill>
                <a:latin typeface="DejaVu Sans"/>
              </a:defRPr>
            </a:pPr>
            <a:r>
              <a:t>Five reviewed source-grounded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68880"/>
            <a:ext cx="6537960" cy="3685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144">
            <a:solidFill>
              <a:srgbClr val="CA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2706624"/>
            <a:ext cx="6071616" cy="4754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3058"/>
              </a:lnSpc>
              <a:spcBef>
                <a:spcPts val="0"/>
              </a:spcBef>
              <a:spcAft>
                <a:spcPts val="0"/>
              </a:spcAft>
              <a:defRPr sz="2592" b="1" i="0">
                <a:solidFill>
                  <a:srgbClr val="D22D27"/>
                </a:solidFill>
                <a:latin typeface="DejaVu Sans"/>
              </a:defRPr>
            </a:pPr>
            <a:r>
              <a:t>Still unestablished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3566160"/>
            <a:ext cx="109728" cy="10972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3419856"/>
            <a:ext cx="5586984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431"/>
                </a:solidFill>
                <a:latin typeface="DejaVu Sans"/>
              </a:defRPr>
            </a:pPr>
            <a:r>
              <a:t>A consistent Hi-C ranking benefit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4151376"/>
            <a:ext cx="109728" cy="10972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4005072"/>
            <a:ext cx="5586984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431"/>
                </a:solidFill>
                <a:latin typeface="DejaVu Sans"/>
              </a:defRPr>
            </a:pPr>
            <a:r>
              <a:t>Candidate recovery in the GPU pilot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4736592"/>
            <a:ext cx="109728" cy="10972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4590288"/>
            <a:ext cx="5586984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431"/>
                </a:solidFill>
                <a:latin typeface="DejaVu Sans"/>
              </a:defRPr>
            </a:pPr>
            <a:r>
              <a:t>Assay QC / biological sample counts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5321808"/>
            <a:ext cx="109728" cy="109728"/>
          </a:xfrm>
          <a:prstGeom prst="ellipse">
            <a:avLst/>
          </a:prstGeom>
          <a:solidFill>
            <a:srgbClr val="D22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5175504"/>
            <a:ext cx="5586984" cy="53035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431"/>
                </a:solidFill>
                <a:latin typeface="DejaVu Sans"/>
              </a:defRPr>
            </a:pPr>
            <a:r>
              <a:t>A reliable experimental chimera fold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83680"/>
            <a:ext cx="13441680" cy="621792"/>
          </a:xfrm>
          <a:prstGeom prst="rect">
            <a:avLst/>
          </a:prstGeom>
          <a:solidFill>
            <a:srgbClr val="EB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6748272"/>
            <a:ext cx="12984480" cy="39319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FF"/>
                </a:solidFill>
                <a:latin typeface="DejaVu Sans"/>
              </a:defRPr>
            </a:pPr>
            <a:r>
              <a:t>Next test: complete assay/QC records + independent candidates + targeted junction confirmation.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chRNA evidence gallery</dc:title>
  <dc:subject>Reviewed methods, results, candidate junctions and structure provenance</dc:subject>
  <dc:creator>chRNA hackathon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